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1" r:id="rId4"/>
    <p:sldId id="262" r:id="rId5"/>
    <p:sldId id="263" r:id="rId6"/>
    <p:sldId id="264" r:id="rId7"/>
    <p:sldId id="258" r:id="rId8"/>
    <p:sldId id="265" r:id="rId9"/>
    <p:sldId id="266" r:id="rId10"/>
    <p:sldId id="267" r:id="rId11"/>
    <p:sldId id="268" r:id="rId12"/>
    <p:sldId id="270" r:id="rId13"/>
    <p:sldId id="269" r:id="rId14"/>
    <p:sldId id="259" r:id="rId15"/>
    <p:sldId id="271" r:id="rId16"/>
    <p:sldId id="26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5"/>
    <p:restoredTop sz="94678"/>
  </p:normalViewPr>
  <p:slideViewPr>
    <p:cSldViewPr snapToGrid="0">
      <p:cViewPr varScale="1">
        <p:scale>
          <a:sx n="150" d="100"/>
          <a:sy n="150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37404-3315-D540-A3DB-C8B1983E61B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EAAC8-3C0E-E64C-85A1-37C68C348F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448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EAAC8-3C0E-E64C-85A1-37C68C348FCE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138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0AC62-2F67-6F82-B9DA-DA003EF7F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37AEAB-4A86-8ECA-70DB-048758A71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8211D-967E-C53F-6284-854DBEEC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BBE657-943C-0E46-79A1-9754FC8D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8437E1-8073-1865-EABC-9E9D97BF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771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E6549-494E-6457-A3D2-C6DE46F2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E9A027-5334-08F2-A5CD-6BD85BE31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05FE80-1B19-04A2-AF4E-B0F0F135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758D63-564A-18FF-4655-D59FA4FD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17841-BC56-E283-6B4A-09A5008F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241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B75EA-74E7-1A62-210A-2CA7B7C55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79E923-BC9E-E4BC-BCDF-429FE8D4A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A6A580-6CDE-778F-746E-61A5D989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A27469-1C37-BF9A-74D5-CF6F5A94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A98E7-3EF5-EACA-C8CB-50278428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157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33EBD-6156-ADFD-5553-979CCFD5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E9C7E8-CD46-05FA-44C7-0F6D08F75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5024D4-27BC-1B59-CC19-AECF2E8A6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40B657-64C0-C845-4B7B-4D14B1CD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622897-0927-6D5F-9728-F7191487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0573CE-3BFD-FA94-2FE1-1B07801D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684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4A74D-1AED-8368-17DE-49A56E78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599392-E94E-7ED0-C3F3-3749438EA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810AB5-DBC1-808F-B7E5-EB4E616C8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E3EF4C-8BF7-3232-7E98-7A6F7F484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F7C113-985D-A6E8-9ACD-7F5E6FA3F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9822C9-1385-3FB6-B2A7-85CA122B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1FB2FD-3308-F2F9-2287-77287610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B565B2-C481-16A3-5F04-0323A0CC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797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12661-6B4E-DEC9-661E-CAB68C41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C0D47B-DE08-853F-8F95-B3B79FB1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8FB360-0067-BA07-859A-394AD830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5FF4BA-CFFC-4205-AF4F-4BA4F1B3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048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0F0D1A-5E3C-F30E-AD8B-EBCF6B3F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C28C6D-4232-87CF-825C-D022354F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E57510-8B69-7BF7-EA56-C4D785CD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549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CB294-6081-7C84-7863-66C74A92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34F691-BE53-2299-09C2-83FDB8CB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B79DEC-1A18-35C8-1C52-73C1412AA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754CBC-378E-5855-1D79-C8F71740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ADF1A9-683E-D02E-C84B-2B79EE98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BC8124-AB49-35F7-A728-E71D47C3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866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7DCC4-CC14-4511-5F5A-06B55F1A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240E2D-1B96-5198-D2ED-DEB81B173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B64F7A-DAE0-24A4-7A84-18DDD6949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521BE0-3037-D729-AE82-0ED6C0E0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499882-6D50-9025-DA82-19D7A220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7DF6E7-B970-13BB-62F4-7431EE7E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13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D23B0-9061-5C64-B7E1-B8285C7F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EAB43B-677A-1B19-DD16-EF150F8DB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D63A81-51A1-7F02-7B94-D3555645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E7234-1FD2-CC31-EDFD-8C08D3F0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008AF7-0F85-D910-70B6-1D57025C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44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67324B-A1D8-DC37-3AD9-A52CF23DD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2D9019-9757-FFF2-C631-17FE3D6D0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8369A-2B97-8F75-DB64-7FAC12AF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CA3C4-B2AE-B532-8C2E-A230FEC7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65351B-F093-0D9E-C1B6-018EDFF8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932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A3B1CD-E7D7-400B-B86D-57DA50C1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8BB0B6-D2E7-1ED2-DA07-2090867C7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A0C0F7-A36C-473F-AD8D-0CBDABA48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58D9C-4AAF-9549-8F52-DB6B4BEA2B93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5D84FD-E82F-541E-8CB4-94A2EF029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4500F7-1133-4319-52EF-02D8F6897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EC0DB-E92E-304A-86CA-AD83720858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224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hiyuanSue/RendezvOS/blob/master/docs/lockfree-ipc.m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iyuanSue/RendezvO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C1706D0-957B-20DB-9892-859DA803683D}"/>
              </a:ext>
            </a:extLst>
          </p:cNvPr>
          <p:cNvSpPr txBox="1"/>
          <p:nvPr/>
        </p:nvSpPr>
        <p:spPr>
          <a:xfrm>
            <a:off x="1286933" y="1718733"/>
            <a:ext cx="826346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主要目的</a:t>
            </a:r>
            <a:endParaRPr kumimoji="1" lang="en-US" altLang="zh-CN" sz="2400" dirty="0"/>
          </a:p>
          <a:p>
            <a:r>
              <a:rPr kumimoji="1" lang="zh-CN" altLang="en-US" dirty="0"/>
              <a:t>要让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帮我写一个多核的内核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sz="2400" dirty="0"/>
              <a:t>目前的实现方式</a:t>
            </a:r>
            <a:endParaRPr kumimoji="1" lang="en-US" altLang="zh-CN" dirty="0"/>
          </a:p>
          <a:p>
            <a:r>
              <a:rPr kumimoji="1" lang="zh-CN" altLang="en-US" dirty="0"/>
              <a:t>手搓核心的一部分作为</a:t>
            </a:r>
            <a:r>
              <a:rPr kumimoji="1" lang="zh-CN" altLang="en-US" b="1" dirty="0"/>
              <a:t>边界约束</a:t>
            </a:r>
            <a:r>
              <a:rPr kumimoji="1" lang="en-US" altLang="zh-CN" dirty="0"/>
              <a:t>+AI</a:t>
            </a:r>
            <a:r>
              <a:rPr kumimoji="1" lang="zh-CN" altLang="en-US" dirty="0"/>
              <a:t>生成大部分</a:t>
            </a:r>
            <a:endParaRPr kumimoji="1" lang="en-US" altLang="zh-CN" dirty="0"/>
          </a:p>
          <a:p>
            <a:r>
              <a:rPr kumimoji="1" lang="zh-CN" altLang="en-US" dirty="0"/>
              <a:t>整体是一个混合内核的思路，内核态包括：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内存管理</a:t>
            </a:r>
            <a:r>
              <a:rPr kumimoji="1" lang="en-US" altLang="zh-CN" dirty="0"/>
              <a:t>+</a:t>
            </a:r>
            <a:r>
              <a:rPr kumimoji="1" lang="zh-CN" altLang="en-US" dirty="0"/>
              <a:t>进程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线程管理的基本支持（手写）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其他所有以内核线程方式运行的内核功能（</a:t>
            </a:r>
            <a:r>
              <a:rPr kumimoji="1" lang="en-US" altLang="zh-CN" dirty="0"/>
              <a:t>AI</a:t>
            </a:r>
            <a:r>
              <a:rPr kumimoji="1" lang="zh-CN" altLang="en-US" dirty="0"/>
              <a:t>搓）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Syscall</a:t>
            </a:r>
            <a:r>
              <a:rPr kumimoji="1" lang="zh-CN" altLang="en-US" dirty="0"/>
              <a:t>部分跟内存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进程相关的部分直接调用，其他跟相应功能的内核线程进行通信。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190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2637-ED3B-8FC7-B539-9281D3D9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D3E4505-7598-32CF-48FB-8BE2CAF17D35}"/>
              </a:ext>
            </a:extLst>
          </p:cNvPr>
          <p:cNvSpPr txBox="1"/>
          <p:nvPr/>
        </p:nvSpPr>
        <p:spPr>
          <a:xfrm>
            <a:off x="1316566" y="1151466"/>
            <a:ext cx="955886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内存</a:t>
            </a:r>
            <a:endParaRPr kumimoji="1" lang="en-US" altLang="zh-CN" sz="2400" dirty="0"/>
          </a:p>
          <a:p>
            <a:r>
              <a:rPr kumimoji="1" lang="zh-CN" altLang="en-US" dirty="0"/>
              <a:t>做法</a:t>
            </a:r>
            <a:r>
              <a:rPr kumimoji="1" lang="en-US" altLang="zh-CN" dirty="0"/>
              <a:t>1:</a:t>
            </a:r>
            <a:r>
              <a:rPr kumimoji="1" lang="zh-CN" altLang="en-US" dirty="0"/>
              <a:t>自映射页表</a:t>
            </a:r>
            <a:r>
              <a:rPr kumimoji="1" lang="en-US" altLang="zh-CN" dirty="0"/>
              <a:t>+</a:t>
            </a:r>
            <a:r>
              <a:rPr kumimoji="1" lang="zh-CN" altLang="en-US" dirty="0"/>
              <a:t>按需分配映射普通内核页面</a:t>
            </a:r>
            <a:endParaRPr kumimoji="1" lang="en-US" altLang="zh-CN" dirty="0"/>
          </a:p>
          <a:p>
            <a:r>
              <a:rPr kumimoji="1" lang="zh-CN" altLang="en-US" dirty="0"/>
              <a:t>目的：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、自映射保护页表本身，按需分配映射保护内核普通页面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、虽然性能略差，但是一旦</a:t>
            </a:r>
            <a:r>
              <a:rPr kumimoji="1" lang="en-US" altLang="zh-CN" dirty="0"/>
              <a:t>AI</a:t>
            </a:r>
            <a:r>
              <a:rPr kumimoji="1" lang="zh-CN" altLang="en-US" dirty="0"/>
              <a:t>写的有</a:t>
            </a:r>
            <a:r>
              <a:rPr kumimoji="1" lang="en-US" altLang="zh-CN" dirty="0"/>
              <a:t>bug</a:t>
            </a:r>
            <a:r>
              <a:rPr kumimoji="1" lang="zh-CN" altLang="en-US" dirty="0"/>
              <a:t>容易很快暴露，且应该比现有的一些内存探测方案轻量（让内存坏！让内存立马坏！虽然天天修各种</a:t>
            </a:r>
            <a:r>
              <a:rPr kumimoji="1" lang="en-US" altLang="zh-CN" dirty="0"/>
              <a:t>0xe</a:t>
            </a:r>
            <a:r>
              <a:rPr kumimoji="1" lang="zh-CN" altLang="en-US" dirty="0"/>
              <a:t>报错也很痛苦）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做法</a:t>
            </a:r>
            <a:r>
              <a:rPr kumimoji="1" lang="en-US" altLang="zh-CN" dirty="0"/>
              <a:t>2:</a:t>
            </a:r>
            <a:r>
              <a:rPr kumimoji="1" lang="zh-CN" altLang="en-US" dirty="0"/>
              <a:t>多核</a:t>
            </a:r>
            <a:r>
              <a:rPr kumimoji="1" lang="en-US" altLang="zh-CN" dirty="0" err="1"/>
              <a:t>percpu</a:t>
            </a:r>
            <a:r>
              <a:rPr kumimoji="1" lang="zh-CN" altLang="en-US" dirty="0"/>
              <a:t>分配器</a:t>
            </a:r>
            <a:r>
              <a:rPr kumimoji="1" lang="en-US" altLang="zh-CN" dirty="0"/>
              <a:t>+</a:t>
            </a:r>
            <a:r>
              <a:rPr kumimoji="1" lang="zh-CN" altLang="en-US" dirty="0"/>
              <a:t>自动路由释放</a:t>
            </a:r>
            <a:endParaRPr kumimoji="1" lang="en-US" altLang="zh-CN" dirty="0"/>
          </a:p>
          <a:p>
            <a:r>
              <a:rPr kumimoji="1" lang="zh-CN" altLang="en-US" dirty="0"/>
              <a:t>目的：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percpu</a:t>
            </a:r>
            <a:r>
              <a:rPr kumimoji="1" lang="zh-CN" altLang="en-US" dirty="0"/>
              <a:t>分配器提升性能，更贴近现代内存管理（也许以后会加</a:t>
            </a:r>
            <a:r>
              <a:rPr kumimoji="1" lang="en-US" altLang="zh-CN" dirty="0"/>
              <a:t>NUMA</a:t>
            </a:r>
            <a:r>
              <a:rPr kumimoji="1" lang="zh-CN" altLang="en-US" dirty="0"/>
              <a:t>，因为现在已经分了</a:t>
            </a:r>
            <a:r>
              <a:rPr kumimoji="1" lang="en-US" altLang="zh-CN" dirty="0"/>
              <a:t>zone</a:t>
            </a:r>
            <a:r>
              <a:rPr kumimoji="1" lang="zh-CN" altLang="en-US" dirty="0"/>
              <a:t>，但是我觉得我干不动了）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只需要从当前核心的分配器拿内存并让他释放即可，当前</a:t>
            </a:r>
            <a:r>
              <a:rPr kumimoji="1" lang="en-US" altLang="zh-CN" dirty="0" err="1"/>
              <a:t>cpu</a:t>
            </a:r>
            <a:r>
              <a:rPr kumimoji="1" lang="zh-CN" altLang="en-US" dirty="0"/>
              <a:t>的分配器自动路由给目标</a:t>
            </a:r>
            <a:r>
              <a:rPr kumimoji="1" lang="en-US" altLang="zh-CN" dirty="0" err="1"/>
              <a:t>cpu</a:t>
            </a:r>
            <a:r>
              <a:rPr kumimoji="1" lang="zh-CN" altLang="en-US" dirty="0"/>
              <a:t>的分配器，</a:t>
            </a:r>
            <a:r>
              <a:rPr kumimoji="1" lang="en-US" altLang="zh-CN" dirty="0"/>
              <a:t>AI</a:t>
            </a:r>
            <a:r>
              <a:rPr kumimoji="1" lang="zh-CN" altLang="en-US" dirty="0"/>
              <a:t>无需关心内存管理到底还给哪个核心上的分配器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612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33346E8-088B-741F-395F-343FD2A18FD7}"/>
              </a:ext>
            </a:extLst>
          </p:cNvPr>
          <p:cNvSpPr/>
          <p:nvPr/>
        </p:nvSpPr>
        <p:spPr>
          <a:xfrm>
            <a:off x="3937000" y="364067"/>
            <a:ext cx="2455333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物理页面管理器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E2FAF3-F275-BC4B-B55B-38AB128E9705}"/>
              </a:ext>
            </a:extLst>
          </p:cNvPr>
          <p:cNvSpPr txBox="1"/>
          <p:nvPr/>
        </p:nvSpPr>
        <p:spPr>
          <a:xfrm>
            <a:off x="8034867" y="311834"/>
            <a:ext cx="3208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基于数状数组的分</a:t>
            </a:r>
            <a:r>
              <a:rPr kumimoji="1" lang="en-US" altLang="zh-CN" dirty="0"/>
              <a:t>zone</a:t>
            </a:r>
            <a:r>
              <a:rPr kumimoji="1" lang="zh-CN" altLang="en-US" dirty="0"/>
              <a:t>的</a:t>
            </a:r>
            <a:r>
              <a:rPr kumimoji="1" lang="en-US" altLang="zh-CN" dirty="0"/>
              <a:t>buddy</a:t>
            </a:r>
            <a:r>
              <a:rPr kumimoji="1" lang="zh-CN" altLang="en-US" dirty="0"/>
              <a:t>物理内存分配器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479280-63D8-0CD1-E434-5D5C05EFC3E0}"/>
              </a:ext>
            </a:extLst>
          </p:cNvPr>
          <p:cNvSpPr/>
          <p:nvPr/>
        </p:nvSpPr>
        <p:spPr>
          <a:xfrm>
            <a:off x="1219201" y="1727201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Map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DE3FDF-1006-143C-B214-9A7B1AE2FFEB}"/>
              </a:ext>
            </a:extLst>
          </p:cNvPr>
          <p:cNvSpPr/>
          <p:nvPr/>
        </p:nvSpPr>
        <p:spPr>
          <a:xfrm>
            <a:off x="3606800" y="1727201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Map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6941D9-AFF0-F1B2-F837-A1E0C5ABCCDB}"/>
              </a:ext>
            </a:extLst>
          </p:cNvPr>
          <p:cNvSpPr/>
          <p:nvPr/>
        </p:nvSpPr>
        <p:spPr>
          <a:xfrm>
            <a:off x="7196666" y="1727201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Map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134EF9-2DB3-F8E5-2411-C392E48D21EA}"/>
              </a:ext>
            </a:extLst>
          </p:cNvPr>
          <p:cNvSpPr txBox="1"/>
          <p:nvPr/>
        </p:nvSpPr>
        <p:spPr>
          <a:xfrm>
            <a:off x="5418666" y="1813468"/>
            <a:ext cx="164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0AAAB8-0977-A079-1EC7-20CB953B2DEA}"/>
              </a:ext>
            </a:extLst>
          </p:cNvPr>
          <p:cNvSpPr txBox="1"/>
          <p:nvPr/>
        </p:nvSpPr>
        <p:spPr>
          <a:xfrm>
            <a:off x="8949267" y="1727201"/>
            <a:ext cx="2421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页表自映射方案的</a:t>
            </a:r>
            <a:r>
              <a:rPr kumimoji="1" lang="en-US" altLang="zh-CN" dirty="0" err="1"/>
              <a:t>percpu</a:t>
            </a:r>
            <a:r>
              <a:rPr kumimoji="1" lang="zh-CN" altLang="en-US" dirty="0"/>
              <a:t>的</a:t>
            </a:r>
            <a:r>
              <a:rPr kumimoji="1" lang="en-US" altLang="zh-CN" dirty="0"/>
              <a:t>handler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145C19-D57B-99B3-50E7-70DAD56C9B5A}"/>
              </a:ext>
            </a:extLst>
          </p:cNvPr>
          <p:cNvSpPr/>
          <p:nvPr/>
        </p:nvSpPr>
        <p:spPr>
          <a:xfrm>
            <a:off x="1219201" y="2963333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虚拟页面管理器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CEA1C1-C467-7632-7A82-BFB3C6A6F0F4}"/>
              </a:ext>
            </a:extLst>
          </p:cNvPr>
          <p:cNvSpPr/>
          <p:nvPr/>
        </p:nvSpPr>
        <p:spPr>
          <a:xfrm>
            <a:off x="1219201" y="4199465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内核对象分配器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854254-91AC-5DC5-2CEA-6B91FE7BBEA7}"/>
              </a:ext>
            </a:extLst>
          </p:cNvPr>
          <p:cNvSpPr/>
          <p:nvPr/>
        </p:nvSpPr>
        <p:spPr>
          <a:xfrm>
            <a:off x="3606800" y="2963332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虚拟页面管理器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AED992-2F52-F653-7370-6B6910C99B2D}"/>
              </a:ext>
            </a:extLst>
          </p:cNvPr>
          <p:cNvSpPr/>
          <p:nvPr/>
        </p:nvSpPr>
        <p:spPr>
          <a:xfrm>
            <a:off x="7196666" y="2963331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虚拟页面管理器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7719D4-9EC8-6FBB-AC66-A5AA81AFA0CF}"/>
              </a:ext>
            </a:extLst>
          </p:cNvPr>
          <p:cNvSpPr/>
          <p:nvPr/>
        </p:nvSpPr>
        <p:spPr>
          <a:xfrm>
            <a:off x="3606800" y="4199465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内核对象分配器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D5856A-151A-16DA-24FD-F1A7D112CE68}"/>
              </a:ext>
            </a:extLst>
          </p:cNvPr>
          <p:cNvSpPr/>
          <p:nvPr/>
        </p:nvSpPr>
        <p:spPr>
          <a:xfrm>
            <a:off x="7196666" y="4199459"/>
            <a:ext cx="1557866" cy="541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内核对象分配器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1C1D50-C201-8669-36EC-4959DA9B66C1}"/>
              </a:ext>
            </a:extLst>
          </p:cNvPr>
          <p:cNvSpPr txBox="1"/>
          <p:nvPr/>
        </p:nvSpPr>
        <p:spPr>
          <a:xfrm>
            <a:off x="8949267" y="2809489"/>
            <a:ext cx="2421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就一棵红黑树，没有什么</a:t>
            </a:r>
            <a:r>
              <a:rPr kumimoji="1" lang="en-US" altLang="zh-CN" dirty="0" err="1"/>
              <a:t>vma</a:t>
            </a:r>
            <a:r>
              <a:rPr kumimoji="1" lang="zh-CN" altLang="en-US" dirty="0"/>
              <a:t>合并这种东西的简单的虚拟页面管理器</a:t>
            </a: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3028B06-E1A8-531B-58F3-1060A98102F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998134" y="905934"/>
            <a:ext cx="3166533" cy="821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1DAD315-9C69-D086-1F95-8F475D2EFB92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4385733" y="905934"/>
            <a:ext cx="778934" cy="821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33598AD-A936-3586-29DB-22B6039024ED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5164667" y="905934"/>
            <a:ext cx="2810932" cy="821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B4DF7736-347B-BEF3-281C-E3357014EF5C}"/>
              </a:ext>
            </a:extLst>
          </p:cNvPr>
          <p:cNvSpPr txBox="1"/>
          <p:nvPr/>
        </p:nvSpPr>
        <p:spPr>
          <a:xfrm>
            <a:off x="8949267" y="4199459"/>
            <a:ext cx="2421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基于破破烂烂的虚拟页面管理器的内核对象分配器。会记录到底在哪个核心分配的元数据，并通过无锁队列还给对应核心的分配器，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E6AF2B7-2FDB-9A11-C21B-2F5CF975F5A7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1998134" y="2269068"/>
            <a:ext cx="0" cy="694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AB923D18-5080-A66D-0792-C6ABA13C3A33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4385733" y="2269068"/>
            <a:ext cx="0" cy="69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4153AFB2-E150-5782-C7F4-9BD471CE4109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7975599" y="2269068"/>
            <a:ext cx="0" cy="69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3BE6B58C-3458-C402-08A0-18D12B2317CA}"/>
              </a:ext>
            </a:extLst>
          </p:cNvPr>
          <p:cNvCxnSpPr>
            <a:cxnSpLocks/>
          </p:cNvCxnSpPr>
          <p:nvPr/>
        </p:nvCxnSpPr>
        <p:spPr>
          <a:xfrm>
            <a:off x="1998134" y="3505198"/>
            <a:ext cx="0" cy="69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5316548B-8B6E-ACD4-E4D8-76CBEC15D033}"/>
              </a:ext>
            </a:extLst>
          </p:cNvPr>
          <p:cNvCxnSpPr>
            <a:cxnSpLocks/>
          </p:cNvCxnSpPr>
          <p:nvPr/>
        </p:nvCxnSpPr>
        <p:spPr>
          <a:xfrm>
            <a:off x="4385733" y="3505198"/>
            <a:ext cx="0" cy="69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013623C7-604C-82ED-2DD7-0124319491BB}"/>
              </a:ext>
            </a:extLst>
          </p:cNvPr>
          <p:cNvCxnSpPr>
            <a:cxnSpLocks/>
          </p:cNvCxnSpPr>
          <p:nvPr/>
        </p:nvCxnSpPr>
        <p:spPr>
          <a:xfrm>
            <a:off x="7941731" y="3505196"/>
            <a:ext cx="0" cy="69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>
            <a:extLst>
              <a:ext uri="{FF2B5EF4-FFF2-40B4-BE49-F238E27FC236}">
                <a16:creationId xmlns:a16="http://schemas.microsoft.com/office/drawing/2014/main" id="{296A2277-587B-9B98-AD93-63625D5ED612}"/>
              </a:ext>
            </a:extLst>
          </p:cNvPr>
          <p:cNvCxnSpPr>
            <a:stCxn id="13" idx="2"/>
            <a:endCxn id="18" idx="2"/>
          </p:cNvCxnSpPr>
          <p:nvPr/>
        </p:nvCxnSpPr>
        <p:spPr>
          <a:xfrm rot="16200000" flipH="1">
            <a:off x="3191933" y="3547532"/>
            <a:ext cx="12700" cy="238759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AE5F6744-A37D-4C3C-159B-0B3487C1FC1C}"/>
              </a:ext>
            </a:extLst>
          </p:cNvPr>
          <p:cNvSpPr txBox="1"/>
          <p:nvPr/>
        </p:nvSpPr>
        <p:spPr>
          <a:xfrm>
            <a:off x="1913466" y="5240867"/>
            <a:ext cx="6121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某个核心上的内存分配器，会在释放的时候把对应的对象路由到对应的内核对象分配器。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如果是小对象，直接让对应核心的分配器释放，如果是大页面，由对应核心分配器再还给该核心的虚拟页面管理器</a:t>
            </a:r>
          </a:p>
        </p:txBody>
      </p:sp>
    </p:spTree>
    <p:extLst>
      <p:ext uri="{BB962C8B-B14F-4D97-AF65-F5344CB8AC3E}">
        <p14:creationId xmlns:p14="http://schemas.microsoft.com/office/powerpoint/2010/main" val="2905147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B99F28-CF33-4A53-B08E-65210EBFDEA8}"/>
              </a:ext>
            </a:extLst>
          </p:cNvPr>
          <p:cNvSpPr txBox="1"/>
          <p:nvPr/>
        </p:nvSpPr>
        <p:spPr>
          <a:xfrm>
            <a:off x="1185333" y="668867"/>
            <a:ext cx="867833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让内存坏！让内存立马坏！的思路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使用</a:t>
            </a:r>
            <a:r>
              <a:rPr kumimoji="1" lang="en-US" altLang="zh-CN" dirty="0"/>
              <a:t>Rust</a:t>
            </a:r>
            <a:r>
              <a:rPr kumimoji="1" lang="zh-CN" altLang="en-US" dirty="0"/>
              <a:t>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写内存安全的内核：内核有些场景下的内存安全并不是</a:t>
            </a:r>
            <a:r>
              <a:rPr kumimoji="1" lang="en-US" altLang="zh-CN" dirty="0"/>
              <a:t>rust</a:t>
            </a:r>
            <a:r>
              <a:rPr kumimoji="1" lang="zh-CN" altLang="en-US" dirty="0"/>
              <a:t>的安全模型可以涵盖的：比如内核栈爆了，比如链接器写错（早上出的题，顺带拿来用一下），然后</a:t>
            </a:r>
            <a:r>
              <a:rPr kumimoji="1" lang="en-US" altLang="zh-CN" dirty="0"/>
              <a:t>unsafe</a:t>
            </a:r>
            <a:r>
              <a:rPr kumimoji="1" lang="zh-CN" altLang="en-US" dirty="0"/>
              <a:t>也需要人工写对，人写不对一样白搭</a:t>
            </a:r>
            <a:endParaRPr kumimoji="1" lang="en-US" altLang="zh-CN" dirty="0"/>
          </a:p>
          <a:p>
            <a:r>
              <a:rPr kumimoji="1" lang="zh-CN" altLang="en-US" dirty="0"/>
              <a:t>但是我可以让他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，内核栈爆了我底下放个只读页面不就行了，那就可以立马检测到了嘛。</a:t>
            </a:r>
            <a:endParaRPr kumimoji="1" lang="en-US" altLang="zh-CN" dirty="0"/>
          </a:p>
          <a:p>
            <a:r>
              <a:rPr kumimoji="1" lang="zh-CN" altLang="en-US" dirty="0"/>
              <a:t>所以总而言之一句话，让内存尽可能快的坏掉报错。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其他内存错误检测方案：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KASAN</a:t>
            </a:r>
            <a:r>
              <a:rPr kumimoji="1" lang="zh-CN" altLang="en-US" dirty="0"/>
              <a:t>：不是即时的，然后内存开销还大，主要是很重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KFENCE</a:t>
            </a:r>
            <a:r>
              <a:rPr kumimoji="1" lang="zh-CN" altLang="en-US" dirty="0"/>
              <a:t>：只能保证部分对象周围插个桩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、只读页面：可读性本身就是个问题。</a:t>
            </a:r>
            <a:endParaRPr kumimoji="1" lang="en-US" altLang="zh-CN" dirty="0"/>
          </a:p>
          <a:p>
            <a:r>
              <a:rPr kumimoji="1" lang="zh-CN" altLang="en-US" dirty="0"/>
              <a:t>假设我释放的时候把某个页面改成只读，考虑这样一个情形，代码中释放页面之前忘记释放链表节点了。节点</a:t>
            </a:r>
            <a:r>
              <a:rPr kumimoji="1" lang="en-US" altLang="zh-CN" dirty="0"/>
              <a:t>A</a:t>
            </a:r>
            <a:r>
              <a:rPr kumimoji="1" lang="zh-CN" altLang="en-US" dirty="0"/>
              <a:t>在页面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，其后继节点</a:t>
            </a:r>
            <a:r>
              <a:rPr kumimoji="1" lang="en-US" altLang="zh-CN" dirty="0"/>
              <a:t>B</a:t>
            </a:r>
            <a:r>
              <a:rPr kumimoji="1" lang="zh-CN" altLang="en-US" dirty="0"/>
              <a:t>在页面</a:t>
            </a:r>
            <a:r>
              <a:rPr kumimoji="1" lang="en-US" altLang="zh-CN" dirty="0"/>
              <a:t>y</a:t>
            </a:r>
            <a:r>
              <a:rPr kumimoji="1" lang="zh-CN" altLang="en-US" dirty="0"/>
              <a:t>上，</a:t>
            </a:r>
            <a:r>
              <a:rPr kumimoji="1" lang="en-US" altLang="zh-CN" dirty="0"/>
              <a:t>B</a:t>
            </a:r>
            <a:r>
              <a:rPr kumimoji="1" lang="zh-CN" altLang="en-US" dirty="0"/>
              <a:t>的后继节点</a:t>
            </a:r>
            <a:r>
              <a:rPr kumimoji="1" lang="en-US" altLang="zh-CN" dirty="0"/>
              <a:t>C</a:t>
            </a:r>
            <a:r>
              <a:rPr kumimoji="1" lang="zh-CN" altLang="en-US" dirty="0"/>
              <a:t>在页面</a:t>
            </a:r>
            <a:r>
              <a:rPr kumimoji="1" lang="en-US" altLang="zh-CN" dirty="0"/>
              <a:t>z</a:t>
            </a:r>
            <a:r>
              <a:rPr kumimoji="1" lang="zh-CN" altLang="en-US" dirty="0"/>
              <a:t>上，现在一个核心释放了页面</a:t>
            </a:r>
            <a:r>
              <a:rPr kumimoji="1" lang="en-US" altLang="zh-CN" dirty="0"/>
              <a:t>y</a:t>
            </a:r>
            <a:r>
              <a:rPr kumimoji="1" lang="zh-CN" altLang="en-US" dirty="0"/>
              <a:t>，另一个核心仍然可以通过读访问到后继节点</a:t>
            </a:r>
            <a:r>
              <a:rPr kumimoji="1" lang="en-US" altLang="zh-CN" dirty="0"/>
              <a:t>C</a:t>
            </a:r>
            <a:r>
              <a:rPr kumimoji="1" lang="zh-CN" altLang="en-US" dirty="0"/>
              <a:t>。那我前面这个</a:t>
            </a:r>
            <a:r>
              <a:rPr kumimoji="1" lang="en-US" altLang="zh-CN" dirty="0"/>
              <a:t>bug</a:t>
            </a:r>
            <a:r>
              <a:rPr kumimoji="1" lang="zh-CN" altLang="en-US" dirty="0"/>
              <a:t>岂不是就被隐藏起来了。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MPK</a:t>
            </a:r>
            <a:r>
              <a:rPr kumimoji="1" lang="zh-CN" altLang="en-US" dirty="0"/>
              <a:t>，你别的不说，总共</a:t>
            </a:r>
            <a:r>
              <a:rPr kumimoji="1" lang="en-US" altLang="zh-CN" dirty="0"/>
              <a:t>16</a:t>
            </a:r>
            <a:r>
              <a:rPr kumimoji="1" lang="zh-CN" altLang="en-US" dirty="0"/>
              <a:t>个域，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间同步还有问题，每个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各管各的。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相比之下，按需分配并映射的方案，虽然在已经映射的页面中的错误访问不会被检测到，但是坏的概率比较大，总共加起来几百行代码，非常轻量级。可以拿来做让内存立马坏方案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23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0005-8B2E-1794-356B-5FBB1A9B9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211E9ED-8504-33A0-8B45-F11287E7F8DD}"/>
              </a:ext>
            </a:extLst>
          </p:cNvPr>
          <p:cNvSpPr txBox="1"/>
          <p:nvPr/>
        </p:nvSpPr>
        <p:spPr>
          <a:xfrm>
            <a:off x="1185333" y="221946"/>
            <a:ext cx="83735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让内存坏！让内存立马坏！的思路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按需分配映射：在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等内核中，他是内核一口气映射完所有页面的，所以可能出现一个内存错误，存在一个很复杂的错误链才最终触发甚至不触发。所以为什么不按需分配，并按需映射内核所需要的页面呢？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但是其实有个问题就是鸡生蛋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分配并映射一个新的页面可能造成页表本身缺页。新的页面也需要分配一个虚拟地址。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所以考虑用自映射方案。可以用自映射窗口的虚拟地址，无需页表页的虚拟地址分配（这在动态分配中会很麻烦），自映射方案还可以保护页表本身的页面在映射环节之外不会被访问，一旦访问就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</a:p>
          <a:p>
            <a:r>
              <a:rPr kumimoji="1" lang="zh-CN" altLang="en-US" dirty="0"/>
              <a:t>（下面黄的物理页面有映射，蓝的没映射）</a:t>
            </a:r>
            <a:endParaRPr kumimoji="1"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BCEAC-86A8-3039-FCB7-85D2700DEC37}"/>
              </a:ext>
            </a:extLst>
          </p:cNvPr>
          <p:cNvSpPr/>
          <p:nvPr/>
        </p:nvSpPr>
        <p:spPr>
          <a:xfrm>
            <a:off x="1100667" y="3884085"/>
            <a:ext cx="872067" cy="3386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L0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D441A3-AC92-B3BF-C191-51FE240EE495}"/>
              </a:ext>
            </a:extLst>
          </p:cNvPr>
          <p:cNvSpPr/>
          <p:nvPr/>
        </p:nvSpPr>
        <p:spPr>
          <a:xfrm>
            <a:off x="749300" y="4620685"/>
            <a:ext cx="872067" cy="338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2F051C-B80E-D824-1004-325277C7E09D}"/>
              </a:ext>
            </a:extLst>
          </p:cNvPr>
          <p:cNvSpPr/>
          <p:nvPr/>
        </p:nvSpPr>
        <p:spPr>
          <a:xfrm>
            <a:off x="499533" y="5372101"/>
            <a:ext cx="872067" cy="338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L2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449DC7-35CF-6FE7-7C51-BC061B1F7246}"/>
              </a:ext>
            </a:extLst>
          </p:cNvPr>
          <p:cNvSpPr/>
          <p:nvPr/>
        </p:nvSpPr>
        <p:spPr>
          <a:xfrm>
            <a:off x="228600" y="6138334"/>
            <a:ext cx="872067" cy="338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page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2DB9D8B-3428-83A3-2CBA-88F8AAEFA71B}"/>
              </a:ext>
            </a:extLst>
          </p:cNvPr>
          <p:cNvCxnSpPr>
            <a:cxnSpLocks/>
          </p:cNvCxnSpPr>
          <p:nvPr/>
        </p:nvCxnSpPr>
        <p:spPr>
          <a:xfrm flipH="1">
            <a:off x="749300" y="4222752"/>
            <a:ext cx="436033" cy="397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FA9F0BE-FF9B-F897-ECD5-1984BE1E0C83}"/>
              </a:ext>
            </a:extLst>
          </p:cNvPr>
          <p:cNvCxnSpPr>
            <a:cxnSpLocks/>
          </p:cNvCxnSpPr>
          <p:nvPr/>
        </p:nvCxnSpPr>
        <p:spPr>
          <a:xfrm flipH="1">
            <a:off x="499533" y="4988985"/>
            <a:ext cx="342902" cy="383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9777917-8C66-6BF7-230B-19268AEA8112}"/>
              </a:ext>
            </a:extLst>
          </p:cNvPr>
          <p:cNvCxnSpPr>
            <a:cxnSpLocks/>
          </p:cNvCxnSpPr>
          <p:nvPr/>
        </p:nvCxnSpPr>
        <p:spPr>
          <a:xfrm flipH="1">
            <a:off x="228600" y="5710768"/>
            <a:ext cx="381000" cy="427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373A1E1-B0C8-FEA8-191C-6E6FD06EBFC6}"/>
              </a:ext>
            </a:extLst>
          </p:cNvPr>
          <p:cNvSpPr/>
          <p:nvPr/>
        </p:nvSpPr>
        <p:spPr>
          <a:xfrm>
            <a:off x="2320637" y="5061528"/>
            <a:ext cx="903044" cy="664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自映射窗口</a:t>
            </a:r>
          </a:p>
        </p:txBody>
      </p: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CA7669EC-C587-84F1-FECD-D8457C817313}"/>
              </a:ext>
            </a:extLst>
          </p:cNvPr>
          <p:cNvCxnSpPr>
            <a:cxnSpLocks/>
            <a:stCxn id="11" idx="2"/>
            <a:endCxn id="2" idx="3"/>
          </p:cNvCxnSpPr>
          <p:nvPr/>
        </p:nvCxnSpPr>
        <p:spPr>
          <a:xfrm rot="5400000" flipH="1">
            <a:off x="1536364" y="4489790"/>
            <a:ext cx="1672165" cy="799425"/>
          </a:xfrm>
          <a:prstGeom prst="bentConnector4">
            <a:avLst>
              <a:gd name="adj1" fmla="val -13671"/>
              <a:gd name="adj2" fmla="val 782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D4F68C8-9B07-72B6-65B4-B98A07B1FD0B}"/>
              </a:ext>
            </a:extLst>
          </p:cNvPr>
          <p:cNvCxnSpPr>
            <a:cxnSpLocks/>
          </p:cNvCxnSpPr>
          <p:nvPr/>
        </p:nvCxnSpPr>
        <p:spPr>
          <a:xfrm>
            <a:off x="1750483" y="4237568"/>
            <a:ext cx="616337" cy="795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27AEAE84-1758-E1B3-8F85-04C7B8E272D2}"/>
              </a:ext>
            </a:extLst>
          </p:cNvPr>
          <p:cNvSpPr/>
          <p:nvPr/>
        </p:nvSpPr>
        <p:spPr>
          <a:xfrm>
            <a:off x="4245360" y="3884085"/>
            <a:ext cx="872067" cy="33866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L0</a:t>
            </a:r>
            <a:endParaRPr kumimoji="1" lang="zh-CN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C2F3908-D204-E529-18D0-71026311D3DD}"/>
              </a:ext>
            </a:extLst>
          </p:cNvPr>
          <p:cNvSpPr/>
          <p:nvPr/>
        </p:nvSpPr>
        <p:spPr>
          <a:xfrm>
            <a:off x="3893993" y="4620685"/>
            <a:ext cx="872067" cy="3386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endParaRPr kumimoji="1" lang="zh-CN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7C18B5C-FBB6-D3C4-915C-94A6AD62E569}"/>
              </a:ext>
            </a:extLst>
          </p:cNvPr>
          <p:cNvSpPr/>
          <p:nvPr/>
        </p:nvSpPr>
        <p:spPr>
          <a:xfrm>
            <a:off x="3644226" y="5372101"/>
            <a:ext cx="872067" cy="338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L2</a:t>
            </a:r>
            <a:endParaRPr kumimoji="1" lang="zh-CN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114A513-83C0-6E91-0F3A-422DF31F5E03}"/>
              </a:ext>
            </a:extLst>
          </p:cNvPr>
          <p:cNvSpPr/>
          <p:nvPr/>
        </p:nvSpPr>
        <p:spPr>
          <a:xfrm>
            <a:off x="3373293" y="6138334"/>
            <a:ext cx="872067" cy="338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page</a:t>
            </a:r>
            <a:endParaRPr kumimoji="1"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8FA23A5B-CC65-1B1A-763D-D33A3A33C8A5}"/>
              </a:ext>
            </a:extLst>
          </p:cNvPr>
          <p:cNvCxnSpPr>
            <a:cxnSpLocks/>
          </p:cNvCxnSpPr>
          <p:nvPr/>
        </p:nvCxnSpPr>
        <p:spPr>
          <a:xfrm flipH="1">
            <a:off x="3893993" y="4222752"/>
            <a:ext cx="436033" cy="397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6EF891A1-EDE1-436F-4AB6-736E7AB8C1CF}"/>
              </a:ext>
            </a:extLst>
          </p:cNvPr>
          <p:cNvCxnSpPr>
            <a:cxnSpLocks/>
          </p:cNvCxnSpPr>
          <p:nvPr/>
        </p:nvCxnSpPr>
        <p:spPr>
          <a:xfrm flipH="1">
            <a:off x="3644226" y="4988985"/>
            <a:ext cx="342902" cy="383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7E40DBB6-7E30-9309-A41B-00FA40A46A85}"/>
              </a:ext>
            </a:extLst>
          </p:cNvPr>
          <p:cNvCxnSpPr>
            <a:cxnSpLocks/>
          </p:cNvCxnSpPr>
          <p:nvPr/>
        </p:nvCxnSpPr>
        <p:spPr>
          <a:xfrm flipH="1">
            <a:off x="3373293" y="5710768"/>
            <a:ext cx="381000" cy="427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27AE4405-E274-8867-6D7A-FC74A9E79D8E}"/>
              </a:ext>
            </a:extLst>
          </p:cNvPr>
          <p:cNvSpPr/>
          <p:nvPr/>
        </p:nvSpPr>
        <p:spPr>
          <a:xfrm>
            <a:off x="5465330" y="5061528"/>
            <a:ext cx="903044" cy="664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自映射窗口</a:t>
            </a:r>
          </a:p>
        </p:txBody>
      </p:sp>
      <p:cxnSp>
        <p:nvCxnSpPr>
          <p:cNvPr id="74" name="肘形连接符 73">
            <a:extLst>
              <a:ext uri="{FF2B5EF4-FFF2-40B4-BE49-F238E27FC236}">
                <a16:creationId xmlns:a16="http://schemas.microsoft.com/office/drawing/2014/main" id="{0DD05740-46BA-F6DB-279D-4475D834FE5C}"/>
              </a:ext>
            </a:extLst>
          </p:cNvPr>
          <p:cNvCxnSpPr>
            <a:cxnSpLocks/>
            <a:stCxn id="73" idx="2"/>
            <a:endCxn id="67" idx="3"/>
          </p:cNvCxnSpPr>
          <p:nvPr/>
        </p:nvCxnSpPr>
        <p:spPr>
          <a:xfrm rot="5400000" flipH="1">
            <a:off x="4873673" y="4682406"/>
            <a:ext cx="935565" cy="1150792"/>
          </a:xfrm>
          <a:prstGeom prst="bentConnector4">
            <a:avLst>
              <a:gd name="adj1" fmla="val -24434"/>
              <a:gd name="adj2" fmla="val 696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9B75F299-C586-C5A1-AC5E-B435110419D7}"/>
              </a:ext>
            </a:extLst>
          </p:cNvPr>
          <p:cNvCxnSpPr>
            <a:cxnSpLocks/>
          </p:cNvCxnSpPr>
          <p:nvPr/>
        </p:nvCxnSpPr>
        <p:spPr>
          <a:xfrm>
            <a:off x="4895176" y="4237568"/>
            <a:ext cx="616337" cy="795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79C9991D-6C69-B22B-697B-8CF275FE4ECF}"/>
              </a:ext>
            </a:extLst>
          </p:cNvPr>
          <p:cNvSpPr/>
          <p:nvPr/>
        </p:nvSpPr>
        <p:spPr>
          <a:xfrm>
            <a:off x="7390053" y="3884085"/>
            <a:ext cx="872067" cy="33866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L0</a:t>
            </a:r>
            <a:endParaRPr kumimoji="1" lang="zh-CN" altLang="en-US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61287E1-A378-F4C2-9C15-69229E7D8C95}"/>
              </a:ext>
            </a:extLst>
          </p:cNvPr>
          <p:cNvSpPr/>
          <p:nvPr/>
        </p:nvSpPr>
        <p:spPr>
          <a:xfrm>
            <a:off x="7038686" y="4620685"/>
            <a:ext cx="872067" cy="338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endParaRPr kumimoji="1" lang="zh-CN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87402E5-6FE1-0648-59CD-E35019238E20}"/>
              </a:ext>
            </a:extLst>
          </p:cNvPr>
          <p:cNvSpPr/>
          <p:nvPr/>
        </p:nvSpPr>
        <p:spPr>
          <a:xfrm>
            <a:off x="6788919" y="5372101"/>
            <a:ext cx="872067" cy="3386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L2</a:t>
            </a:r>
            <a:endParaRPr kumimoji="1"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75C16F7-5774-63C2-33A6-2BA07E7C4AF2}"/>
              </a:ext>
            </a:extLst>
          </p:cNvPr>
          <p:cNvSpPr/>
          <p:nvPr/>
        </p:nvSpPr>
        <p:spPr>
          <a:xfrm>
            <a:off x="6517986" y="6138334"/>
            <a:ext cx="872067" cy="338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page</a:t>
            </a:r>
            <a:endParaRPr kumimoji="1" lang="zh-CN" altLang="en-US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4CFB632D-F398-89EB-CBC4-2B28E0226E8F}"/>
              </a:ext>
            </a:extLst>
          </p:cNvPr>
          <p:cNvCxnSpPr>
            <a:cxnSpLocks/>
          </p:cNvCxnSpPr>
          <p:nvPr/>
        </p:nvCxnSpPr>
        <p:spPr>
          <a:xfrm flipH="1">
            <a:off x="7038686" y="4222752"/>
            <a:ext cx="436033" cy="397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305B2D94-0E78-F0A7-346E-A8A9B37968A0}"/>
              </a:ext>
            </a:extLst>
          </p:cNvPr>
          <p:cNvCxnSpPr>
            <a:cxnSpLocks/>
          </p:cNvCxnSpPr>
          <p:nvPr/>
        </p:nvCxnSpPr>
        <p:spPr>
          <a:xfrm flipH="1">
            <a:off x="6788919" y="4988985"/>
            <a:ext cx="342902" cy="383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4A70DA0D-EA05-CC95-687A-CFE248ADD60A}"/>
              </a:ext>
            </a:extLst>
          </p:cNvPr>
          <p:cNvCxnSpPr>
            <a:cxnSpLocks/>
          </p:cNvCxnSpPr>
          <p:nvPr/>
        </p:nvCxnSpPr>
        <p:spPr>
          <a:xfrm flipH="1">
            <a:off x="6517986" y="5710768"/>
            <a:ext cx="381000" cy="427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FD6E744F-9B50-DBFA-CF73-67B1182160FC}"/>
              </a:ext>
            </a:extLst>
          </p:cNvPr>
          <p:cNvSpPr/>
          <p:nvPr/>
        </p:nvSpPr>
        <p:spPr>
          <a:xfrm>
            <a:off x="8610023" y="5061528"/>
            <a:ext cx="903044" cy="664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自映射窗口</a:t>
            </a:r>
          </a:p>
        </p:txBody>
      </p:sp>
      <p:cxnSp>
        <p:nvCxnSpPr>
          <p:cNvPr id="84" name="肘形连接符 83">
            <a:extLst>
              <a:ext uri="{FF2B5EF4-FFF2-40B4-BE49-F238E27FC236}">
                <a16:creationId xmlns:a16="http://schemas.microsoft.com/office/drawing/2014/main" id="{1F0AED4D-0B42-A144-D81E-685C44788391}"/>
              </a:ext>
            </a:extLst>
          </p:cNvPr>
          <p:cNvCxnSpPr>
            <a:cxnSpLocks/>
            <a:stCxn id="83" idx="2"/>
            <a:endCxn id="78" idx="3"/>
          </p:cNvCxnSpPr>
          <p:nvPr/>
        </p:nvCxnSpPr>
        <p:spPr>
          <a:xfrm rot="5400000" flipH="1">
            <a:off x="8269191" y="4933231"/>
            <a:ext cx="184149" cy="1400559"/>
          </a:xfrm>
          <a:prstGeom prst="bentConnector4">
            <a:avLst>
              <a:gd name="adj1" fmla="val -124139"/>
              <a:gd name="adj2" fmla="val 661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F7455F6F-9F83-AD5B-C1DB-14C9E2E83A5D}"/>
              </a:ext>
            </a:extLst>
          </p:cNvPr>
          <p:cNvCxnSpPr>
            <a:cxnSpLocks/>
          </p:cNvCxnSpPr>
          <p:nvPr/>
        </p:nvCxnSpPr>
        <p:spPr>
          <a:xfrm>
            <a:off x="8039869" y="4237568"/>
            <a:ext cx="616337" cy="795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842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D97D-E0F0-2608-4B6A-F3982614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DAFFF7-E9B3-2F33-C9D4-024E48CB85BF}"/>
              </a:ext>
            </a:extLst>
          </p:cNvPr>
          <p:cNvSpPr txBox="1"/>
          <p:nvPr/>
        </p:nvSpPr>
        <p:spPr>
          <a:xfrm>
            <a:off x="1185333" y="668867"/>
            <a:ext cx="86783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</a:t>
            </a:r>
            <a:r>
              <a:rPr kumimoji="1" lang="en-US" altLang="zh-CN" dirty="0"/>
              <a:t>AI</a:t>
            </a:r>
            <a:r>
              <a:rPr kumimoji="1" lang="zh-CN" altLang="en-US" dirty="0"/>
              <a:t>的友好性：</a:t>
            </a:r>
            <a:endParaRPr kumimoji="1" lang="en-US" altLang="zh-CN" dirty="0"/>
          </a:p>
          <a:p>
            <a:r>
              <a:rPr kumimoji="1" lang="zh-CN" altLang="en-US" dirty="0"/>
              <a:t>第一、</a:t>
            </a:r>
            <a:r>
              <a:rPr kumimoji="1" lang="en-US" altLang="zh-CN" dirty="0"/>
              <a:t>AI</a:t>
            </a:r>
            <a:r>
              <a:rPr kumimoji="1" lang="zh-CN" altLang="en-US" dirty="0"/>
              <a:t>因为上下文不够，如果触发了复杂的内存问题，可以尽快发现。而且框架本身足够轻量级</a:t>
            </a:r>
            <a:endParaRPr kumimoji="1" lang="en-US" altLang="zh-CN" dirty="0"/>
          </a:p>
          <a:p>
            <a:r>
              <a:rPr kumimoji="1" lang="zh-CN" altLang="en-US" dirty="0"/>
              <a:t>第二、</a:t>
            </a:r>
            <a:r>
              <a:rPr kumimoji="1" lang="en-US" altLang="zh-CN" dirty="0"/>
              <a:t>AI</a:t>
            </a:r>
            <a:r>
              <a:rPr kumimoji="1" lang="zh-CN" altLang="en-US" dirty="0"/>
              <a:t>写的内核线程只需要做两件事：</a:t>
            </a:r>
            <a:endParaRPr kumimoji="1" lang="en-US" altLang="zh-CN" dirty="0"/>
          </a:p>
          <a:p>
            <a:r>
              <a:rPr kumimoji="1" lang="zh-CN" altLang="en-US" dirty="0"/>
              <a:t>从当前内核的分配器拿内存，往当前内核的分配器还内存。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43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3C15-33E2-5D23-54ED-9BCF0164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084647-4C03-5E61-1F78-98D42C63F3A4}"/>
              </a:ext>
            </a:extLst>
          </p:cNvPr>
          <p:cNvSpPr txBox="1"/>
          <p:nvPr/>
        </p:nvSpPr>
        <p:spPr>
          <a:xfrm>
            <a:off x="1346200" y="728133"/>
            <a:ext cx="8263467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执行流</a:t>
            </a:r>
            <a:endParaRPr kumimoji="1" lang="en-US" altLang="zh-CN" sz="2400" dirty="0"/>
          </a:p>
          <a:p>
            <a:r>
              <a:rPr kumimoji="1" lang="zh-CN" altLang="en-US" dirty="0"/>
              <a:t>锁的临界区执行转为无锁</a:t>
            </a:r>
            <a:r>
              <a:rPr kumimoji="1" lang="en-US" altLang="zh-CN" dirty="0"/>
              <a:t>IPC</a:t>
            </a:r>
          </a:p>
          <a:p>
            <a:r>
              <a:rPr kumimoji="1" lang="zh-CN" altLang="en-US" dirty="0"/>
              <a:t>目的：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只需要关心各个内核线程的单线程的功能实现而无需考虑复杂竞态，竞态都封装进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协议去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天然具有消息接口需要协商，可以视为各个内核模块之间的边界约束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sz="2400" dirty="0"/>
              <a:t>用</a:t>
            </a:r>
            <a:r>
              <a:rPr kumimoji="1" lang="en-US" altLang="zh-CN" sz="2400" dirty="0"/>
              <a:t>AI</a:t>
            </a:r>
            <a:r>
              <a:rPr kumimoji="1" lang="zh-CN" altLang="en-US" sz="2400" dirty="0"/>
              <a:t>协作部分（探索中）</a:t>
            </a:r>
            <a:endParaRPr kumimoji="1" lang="en-US" altLang="zh-CN" sz="2400" dirty="0"/>
          </a:p>
          <a:p>
            <a:r>
              <a:rPr kumimoji="1" lang="zh-CN" altLang="en-US" dirty="0"/>
              <a:t>包括但不限于：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、给出各种</a:t>
            </a:r>
            <a:r>
              <a:rPr kumimoji="1" lang="en-US" altLang="zh-CN" dirty="0"/>
              <a:t>AI</a:t>
            </a:r>
            <a:r>
              <a:rPr kumimoji="1" lang="zh-CN" altLang="en-US" dirty="0"/>
              <a:t>编程约束规范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、设计并给出各个内核线程的对外接口规范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559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D473BCA-74BE-63F3-75C9-F3C0EB23ABD1}"/>
              </a:ext>
            </a:extLst>
          </p:cNvPr>
          <p:cNvSpPr txBox="1"/>
          <p:nvPr/>
        </p:nvSpPr>
        <p:spPr>
          <a:xfrm>
            <a:off x="1346200" y="728133"/>
            <a:ext cx="82634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举个例子吧</a:t>
            </a:r>
            <a:endParaRPr kumimoji="1" lang="en-US" altLang="zh-CN" sz="2400" dirty="0"/>
          </a:p>
          <a:p>
            <a:r>
              <a:rPr kumimoji="1" lang="zh-CN" altLang="en-US" dirty="0"/>
              <a:t>假设有个伪代码，就说发网卡消息（以下仅作示例，不要拿真实网卡来蛐蛐我）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E047C3-A12A-A097-01D9-A3614AA10AD4}"/>
              </a:ext>
            </a:extLst>
          </p:cNvPr>
          <p:cNvSpPr txBox="1"/>
          <p:nvPr/>
        </p:nvSpPr>
        <p:spPr>
          <a:xfrm>
            <a:off x="2798618" y="1859339"/>
            <a:ext cx="25861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核心</a:t>
            </a:r>
            <a:r>
              <a:rPr kumimoji="1" lang="en-US" altLang="zh-CN" dirty="0"/>
              <a:t>A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准备好数据</a:t>
            </a:r>
            <a:endParaRPr kumimoji="1" lang="en-US" altLang="zh-CN" dirty="0"/>
          </a:p>
          <a:p>
            <a:r>
              <a:rPr kumimoji="1" lang="zh-CN" altLang="en-US" dirty="0"/>
              <a:t>试图抢网卡锁</a:t>
            </a:r>
            <a:endParaRPr kumimoji="1" lang="en-US" altLang="zh-CN" dirty="0"/>
          </a:p>
          <a:p>
            <a:r>
              <a:rPr kumimoji="1" lang="zh-CN" altLang="en-US" dirty="0"/>
              <a:t>抢到锁</a:t>
            </a:r>
            <a:endParaRPr kumimoji="1" lang="en-US" altLang="zh-CN" dirty="0"/>
          </a:p>
          <a:p>
            <a:r>
              <a:rPr kumimoji="1" lang="zh-CN" altLang="en-US" dirty="0"/>
              <a:t>发！</a:t>
            </a:r>
            <a:endParaRPr kumimoji="1" lang="en-US" altLang="zh-CN" dirty="0"/>
          </a:p>
          <a:p>
            <a:r>
              <a:rPr kumimoji="1" lang="zh-CN" altLang="en-US" dirty="0"/>
              <a:t>释放锁</a:t>
            </a:r>
            <a:endParaRPr kumimoji="1" lang="en-US" altLang="zh-CN" dirty="0"/>
          </a:p>
          <a:p>
            <a:r>
              <a:rPr kumimoji="1" lang="zh-CN" altLang="en-US" dirty="0"/>
              <a:t>干其他事</a:t>
            </a:r>
            <a:endParaRPr kumimoji="1"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7F8F0B-D8BF-EF00-F458-CA877BF3A11A}"/>
              </a:ext>
            </a:extLst>
          </p:cNvPr>
          <p:cNvSpPr txBox="1"/>
          <p:nvPr/>
        </p:nvSpPr>
        <p:spPr>
          <a:xfrm>
            <a:off x="4558145" y="1859339"/>
            <a:ext cx="25861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核心</a:t>
            </a:r>
            <a:r>
              <a:rPr kumimoji="1" lang="en-US" altLang="zh-CN" dirty="0"/>
              <a:t>B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准备好数据</a:t>
            </a:r>
            <a:endParaRPr kumimoji="1" lang="en-US" altLang="zh-CN" dirty="0"/>
          </a:p>
          <a:p>
            <a:r>
              <a:rPr kumimoji="1" lang="zh-CN" altLang="en-US" dirty="0"/>
              <a:t>试图抢网卡锁</a:t>
            </a:r>
            <a:endParaRPr kumimoji="1" lang="en-US" altLang="zh-CN" dirty="0"/>
          </a:p>
          <a:p>
            <a:r>
              <a:rPr kumimoji="1" lang="zh-CN" altLang="en-US" dirty="0"/>
              <a:t>没抢到锁，等待</a:t>
            </a:r>
            <a:endParaRPr kumimoji="1" lang="en-US" altLang="zh-CN" dirty="0"/>
          </a:p>
          <a:p>
            <a:r>
              <a:rPr kumimoji="1" lang="zh-CN" altLang="en-US" dirty="0"/>
              <a:t>等待</a:t>
            </a:r>
            <a:endParaRPr kumimoji="1" lang="en-US" altLang="zh-CN" dirty="0"/>
          </a:p>
          <a:p>
            <a:r>
              <a:rPr kumimoji="1" lang="en-US" altLang="zh-CN" dirty="0"/>
              <a:t>……</a:t>
            </a:r>
          </a:p>
          <a:p>
            <a:r>
              <a:rPr kumimoji="1" lang="zh-CN" altLang="en-US" dirty="0"/>
              <a:t>抢到锁</a:t>
            </a:r>
            <a:endParaRPr kumimoji="1" lang="en-US" altLang="zh-CN" dirty="0"/>
          </a:p>
          <a:p>
            <a:r>
              <a:rPr kumimoji="1" lang="zh-CN" altLang="en-US" dirty="0"/>
              <a:t>发！</a:t>
            </a:r>
            <a:endParaRPr kumimoji="1" lang="en-US" altLang="zh-CN" dirty="0"/>
          </a:p>
          <a:p>
            <a:r>
              <a:rPr kumimoji="1" lang="zh-CN" altLang="en-US" dirty="0"/>
              <a:t>释放锁</a:t>
            </a:r>
            <a:endParaRPr kumimoji="1" lang="en-US" altLang="zh-CN" dirty="0"/>
          </a:p>
          <a:p>
            <a:r>
              <a:rPr kumimoji="1" lang="zh-CN" altLang="en-US" dirty="0"/>
              <a:t>干其他事</a:t>
            </a:r>
            <a:endParaRPr kumimoji="1" lang="en-US" altLang="zh-CN" dirty="0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DD7D4F9-9243-6C4F-0CFF-F0A6D3546E5A}"/>
              </a:ext>
            </a:extLst>
          </p:cNvPr>
          <p:cNvCxnSpPr/>
          <p:nvPr/>
        </p:nvCxnSpPr>
        <p:spPr>
          <a:xfrm>
            <a:off x="2124363" y="3013501"/>
            <a:ext cx="2179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E2DA261E-EEEF-04BA-024B-1728C5BD8326}"/>
              </a:ext>
            </a:extLst>
          </p:cNvPr>
          <p:cNvCxnSpPr/>
          <p:nvPr/>
        </p:nvCxnSpPr>
        <p:spPr>
          <a:xfrm>
            <a:off x="2124363" y="3821683"/>
            <a:ext cx="2179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2CC926F4-525C-F59D-CCC1-DD07DD61DCFF}"/>
              </a:ext>
            </a:extLst>
          </p:cNvPr>
          <p:cNvCxnSpPr/>
          <p:nvPr/>
        </p:nvCxnSpPr>
        <p:spPr>
          <a:xfrm>
            <a:off x="4508114" y="3830919"/>
            <a:ext cx="2179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952E036E-DCB6-983B-D890-754371F521CC}"/>
              </a:ext>
            </a:extLst>
          </p:cNvPr>
          <p:cNvCxnSpPr/>
          <p:nvPr/>
        </p:nvCxnSpPr>
        <p:spPr>
          <a:xfrm>
            <a:off x="4508114" y="4639101"/>
            <a:ext cx="2179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3633390-711F-9125-6C4E-7C2E2D1C9BA7}"/>
              </a:ext>
            </a:extLst>
          </p:cNvPr>
          <p:cNvSpPr txBox="1"/>
          <p:nvPr/>
        </p:nvSpPr>
        <p:spPr>
          <a:xfrm>
            <a:off x="1117600" y="3084945"/>
            <a:ext cx="146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抢先进入临界区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4E4AA3-5047-1670-20A9-351BA0CD6991}"/>
              </a:ext>
            </a:extLst>
          </p:cNvPr>
          <p:cNvSpPr txBox="1"/>
          <p:nvPr/>
        </p:nvSpPr>
        <p:spPr>
          <a:xfrm>
            <a:off x="6460066" y="3911845"/>
            <a:ext cx="146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r>
              <a:rPr kumimoji="1" lang="zh-CN" altLang="en-US" dirty="0"/>
              <a:t>随后进入临界区</a:t>
            </a:r>
          </a:p>
        </p:txBody>
      </p:sp>
    </p:spTree>
    <p:extLst>
      <p:ext uri="{BB962C8B-B14F-4D97-AF65-F5344CB8AC3E}">
        <p14:creationId xmlns:p14="http://schemas.microsoft.com/office/powerpoint/2010/main" val="27049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B094-1C23-42FD-7A6A-37C83D1E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EC52134-6941-C80B-90CF-68F7BC19E8A1}"/>
              </a:ext>
            </a:extLst>
          </p:cNvPr>
          <p:cNvSpPr txBox="1"/>
          <p:nvPr/>
        </p:nvSpPr>
        <p:spPr>
          <a:xfrm>
            <a:off x="1346200" y="728133"/>
            <a:ext cx="82634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举个例子吧</a:t>
            </a:r>
            <a:endParaRPr kumimoji="1" lang="en-US" altLang="zh-CN" sz="2400" dirty="0"/>
          </a:p>
          <a:p>
            <a:r>
              <a:rPr kumimoji="1" lang="zh-CN" altLang="en-US" dirty="0"/>
              <a:t>他可以转换为一个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的模型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F95A42-F5D4-AA11-43DA-C9D8A4819374}"/>
              </a:ext>
            </a:extLst>
          </p:cNvPr>
          <p:cNvSpPr txBox="1"/>
          <p:nvPr/>
        </p:nvSpPr>
        <p:spPr>
          <a:xfrm>
            <a:off x="2189018" y="1859339"/>
            <a:ext cx="25861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核心</a:t>
            </a:r>
            <a:r>
              <a:rPr kumimoji="1" lang="en-US" altLang="zh-CN" dirty="0"/>
              <a:t>A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内核线程</a:t>
            </a:r>
            <a:r>
              <a:rPr kumimoji="1" lang="en-US" altLang="zh-CN" dirty="0"/>
              <a:t>x</a:t>
            </a:r>
          </a:p>
          <a:p>
            <a:r>
              <a:rPr kumimoji="1" lang="zh-CN" altLang="en-US" dirty="0"/>
              <a:t>准备好数据</a:t>
            </a:r>
            <a:endParaRPr kumimoji="1" lang="en-US" altLang="zh-CN" dirty="0"/>
          </a:p>
          <a:p>
            <a:r>
              <a:rPr kumimoji="1" lang="zh-CN" altLang="en-US" dirty="0"/>
              <a:t>发数据给内核线程</a:t>
            </a:r>
            <a:r>
              <a:rPr kumimoji="1" lang="en-US" altLang="zh-CN" dirty="0"/>
              <a:t>z</a:t>
            </a:r>
          </a:p>
          <a:p>
            <a:r>
              <a:rPr kumimoji="1" lang="zh-CN" altLang="en-US" dirty="0"/>
              <a:t>干其他事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……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F83893-40FF-C784-747A-4ACDD1CEA621}"/>
              </a:ext>
            </a:extLst>
          </p:cNvPr>
          <p:cNvSpPr txBox="1"/>
          <p:nvPr/>
        </p:nvSpPr>
        <p:spPr>
          <a:xfrm>
            <a:off x="4558145" y="1859339"/>
            <a:ext cx="2586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核心</a:t>
            </a:r>
            <a:r>
              <a:rPr kumimoji="1" lang="en-US" altLang="zh-CN" dirty="0"/>
              <a:t>B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内核线程</a:t>
            </a:r>
            <a:r>
              <a:rPr kumimoji="1" lang="en-US" altLang="zh-CN" dirty="0"/>
              <a:t>y</a:t>
            </a:r>
          </a:p>
          <a:p>
            <a:r>
              <a:rPr kumimoji="1" lang="zh-CN" altLang="en-US" dirty="0"/>
              <a:t>准备好数据</a:t>
            </a:r>
            <a:endParaRPr kumimoji="1" lang="en-US" altLang="zh-CN" dirty="0"/>
          </a:p>
          <a:p>
            <a:r>
              <a:rPr kumimoji="1" lang="zh-CN" altLang="en-US" dirty="0"/>
              <a:t>发数据给内核线程</a:t>
            </a:r>
            <a:r>
              <a:rPr kumimoji="1" lang="en-US" altLang="zh-CN" dirty="0"/>
              <a:t>z</a:t>
            </a:r>
          </a:p>
          <a:p>
            <a:r>
              <a:rPr kumimoji="1" lang="zh-CN" altLang="en-US" dirty="0"/>
              <a:t>干其他事</a:t>
            </a:r>
            <a:endParaRPr kumimoji="1"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FFD209-604E-188D-5F4A-F0D3146FDC19}"/>
              </a:ext>
            </a:extLst>
          </p:cNvPr>
          <p:cNvSpPr txBox="1"/>
          <p:nvPr/>
        </p:nvSpPr>
        <p:spPr>
          <a:xfrm>
            <a:off x="2189018" y="4167663"/>
            <a:ext cx="29556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切换到内核线程</a:t>
            </a:r>
            <a:r>
              <a:rPr kumimoji="1" lang="en-US" altLang="zh-CN" dirty="0"/>
              <a:t>z</a:t>
            </a:r>
          </a:p>
          <a:p>
            <a:r>
              <a:rPr kumimoji="1" lang="zh-CN" altLang="en-US" dirty="0"/>
              <a:t>内核线程</a:t>
            </a:r>
            <a:r>
              <a:rPr kumimoji="1" lang="en-US" altLang="zh-CN" dirty="0"/>
              <a:t>z</a:t>
            </a:r>
          </a:p>
          <a:p>
            <a:r>
              <a:rPr kumimoji="1" lang="zh-CN" altLang="en-US" dirty="0"/>
              <a:t>（专门处理网络数据发包的线程）</a:t>
            </a:r>
            <a:endParaRPr kumimoji="1" lang="en-US" altLang="zh-CN" dirty="0"/>
          </a:p>
          <a:p>
            <a:r>
              <a:rPr kumimoji="1" lang="zh-CN" altLang="en-US" dirty="0"/>
              <a:t>接收到</a:t>
            </a:r>
            <a:r>
              <a:rPr kumimoji="1" lang="en-US" altLang="zh-CN" dirty="0"/>
              <a:t>x</a:t>
            </a:r>
            <a:r>
              <a:rPr kumimoji="1" lang="zh-CN" altLang="en-US" dirty="0"/>
              <a:t>发来的数据</a:t>
            </a:r>
            <a:endParaRPr kumimoji="1" lang="en-US" altLang="zh-CN" dirty="0"/>
          </a:p>
          <a:p>
            <a:r>
              <a:rPr kumimoji="1" lang="zh-CN" altLang="en-US" dirty="0"/>
              <a:t>发！</a:t>
            </a:r>
            <a:endParaRPr kumimoji="1" lang="en-US" altLang="zh-CN" dirty="0"/>
          </a:p>
          <a:p>
            <a:r>
              <a:rPr kumimoji="1" lang="zh-CN" altLang="en-US" dirty="0"/>
              <a:t>接收到</a:t>
            </a:r>
            <a:r>
              <a:rPr kumimoji="1" lang="en-US" altLang="zh-CN" dirty="0"/>
              <a:t>y</a:t>
            </a:r>
            <a:r>
              <a:rPr kumimoji="1" lang="zh-CN" altLang="en-US" dirty="0"/>
              <a:t>发来的数据</a:t>
            </a:r>
            <a:endParaRPr kumimoji="1" lang="en-US" altLang="zh-CN" dirty="0"/>
          </a:p>
          <a:p>
            <a:r>
              <a:rPr kumimoji="1" lang="zh-CN" altLang="en-US" dirty="0"/>
              <a:t>发！</a:t>
            </a:r>
            <a:endParaRPr kumimoji="1" lang="en-US" altLang="zh-CN" dirty="0"/>
          </a:p>
          <a:p>
            <a:endParaRPr kumimoji="1" lang="zh-CN" altLang="en-US" dirty="0"/>
          </a:p>
        </p:txBody>
      </p: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00AE84E1-1060-F17A-BCD2-5C6EEA0777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82668" y="3096628"/>
            <a:ext cx="12700" cy="244682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id="{FB0327D3-D7DF-0A6E-D01D-22FAF6851FBC}"/>
              </a:ext>
            </a:extLst>
          </p:cNvPr>
          <p:cNvCxnSpPr>
            <a:cxnSpLocks/>
          </p:cNvCxnSpPr>
          <p:nvPr/>
        </p:nvCxnSpPr>
        <p:spPr>
          <a:xfrm flipH="1">
            <a:off x="5096164" y="3198166"/>
            <a:ext cx="1999672" cy="2723823"/>
          </a:xfrm>
          <a:prstGeom prst="bentConnector3">
            <a:avLst>
              <a:gd name="adj1" fmla="val -114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063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DA643-066F-BFEB-797B-C9D4253F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E955B7F-F933-3F62-2730-0608D6E0CEC8}"/>
              </a:ext>
            </a:extLst>
          </p:cNvPr>
          <p:cNvSpPr txBox="1"/>
          <p:nvPr/>
        </p:nvSpPr>
        <p:spPr>
          <a:xfrm>
            <a:off x="1346200" y="728133"/>
            <a:ext cx="826346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锁转为</a:t>
            </a:r>
            <a:r>
              <a:rPr kumimoji="1" lang="en-US" altLang="zh-CN" sz="2400" dirty="0"/>
              <a:t>IPC</a:t>
            </a:r>
          </a:p>
          <a:p>
            <a:r>
              <a:rPr kumimoji="1" lang="zh-CN" altLang="en-US" dirty="0"/>
              <a:t>但是实际上并不是完全不需要考虑竞态问题，因为实际上，这种竞态被封装进了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框架里面去。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于是我实现了一套无锁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方案，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方案中也无锁是因为以下考虑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、减少优先级反转的影响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、整个内核中大量的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，如果在嵌套中断中使用带锁的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，触发了上锁的问题，反而容易卡死。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具体文档：</a:t>
            </a:r>
            <a:r>
              <a:rPr kumimoji="1" lang="en-GB" altLang="zh-CN" dirty="0">
                <a:hlinkClick r:id="rId2"/>
              </a:rPr>
              <a:t>https://github.com/ZhiyuanSue/RendezvOS/blob/master/docs/lockfree-ipc.md</a:t>
            </a:r>
            <a:endParaRPr kumimoji="1" lang="en-GB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036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9DAA-3850-A4D5-1886-1EF06EFD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5B830D-1000-70F0-F949-174200EDC1A4}"/>
              </a:ext>
            </a:extLst>
          </p:cNvPr>
          <p:cNvSpPr txBox="1"/>
          <p:nvPr/>
        </p:nvSpPr>
        <p:spPr>
          <a:xfrm>
            <a:off x="1346200" y="728133"/>
            <a:ext cx="8263467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简要版具体实现说明</a:t>
            </a:r>
            <a:endParaRPr kumimoji="1" lang="en-US" altLang="zh-CN" sz="2400" dirty="0"/>
          </a:p>
          <a:p>
            <a:r>
              <a:rPr kumimoji="1" lang="zh-CN" altLang="en-US" dirty="0"/>
              <a:t>整体是一个基于端口的方案，使用带状态的一个端口队列，改写了</a:t>
            </a:r>
            <a:r>
              <a:rPr kumimoji="1" lang="en-US" altLang="zh-CN" dirty="0" err="1"/>
              <a:t>msqueue</a:t>
            </a:r>
            <a:r>
              <a:rPr kumimoji="1" lang="zh-CN" altLang="en-US" dirty="0"/>
              <a:t>无锁队列让它的队列中，只允许要么全都是发送的线程，要么全都是接收线程。（否则一定会一一匹配触发发送）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除此之外每个内核线程都有一个发送队列和一个接受队列（这样可以一个线程等在发送的时候，允许其他线程往他的接收对列发送，同样采用</a:t>
            </a:r>
            <a:r>
              <a:rPr kumimoji="1" lang="en-US" altLang="zh-CN" dirty="0" err="1"/>
              <a:t>msqueue</a:t>
            </a:r>
            <a:r>
              <a:rPr kumimoji="1" lang="zh-CN" altLang="en-US" dirty="0"/>
              <a:t>的实现）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对于访问引用计数本身可能存在的问题，采用</a:t>
            </a:r>
            <a:r>
              <a:rPr kumimoji="1" lang="en-US" altLang="zh-CN" dirty="0" err="1"/>
              <a:t>percpu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512</a:t>
            </a:r>
            <a:r>
              <a:rPr kumimoji="1" lang="zh-CN" altLang="en-US" dirty="0"/>
              <a:t>个槽位的</a:t>
            </a:r>
            <a:r>
              <a:rPr kumimoji="1" lang="en-US" altLang="zh-CN" dirty="0" err="1"/>
              <a:t>ebr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epoch-based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reclaimation</a:t>
            </a:r>
            <a:r>
              <a:rPr kumimoji="1" lang="zh-CN" altLang="en-US" dirty="0"/>
              <a:t>），使用</a:t>
            </a:r>
            <a:r>
              <a:rPr kumimoji="1" lang="en-US" altLang="zh-CN" dirty="0"/>
              <a:t>tagged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ptr</a:t>
            </a:r>
            <a:r>
              <a:rPr kumimoji="1" lang="zh-CN" altLang="en-US" dirty="0"/>
              <a:t>避免</a:t>
            </a:r>
            <a:r>
              <a:rPr kumimoji="1" lang="en-US" altLang="zh-CN" dirty="0"/>
              <a:t>ABA</a:t>
            </a:r>
            <a:r>
              <a:rPr kumimoji="1" lang="zh-CN" altLang="en-US" dirty="0"/>
              <a:t>问题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抽象出来了几个接口原语</a:t>
            </a:r>
            <a:endParaRPr kumimoji="1" lang="en-US" altLang="zh-CN" dirty="0"/>
          </a:p>
          <a:p>
            <a:r>
              <a:rPr lang="en-GB" altLang="zh-CN" dirty="0" err="1"/>
              <a:t>ipc_port_try_match</a:t>
            </a:r>
            <a:r>
              <a:rPr lang="zh-CN" altLang="en-US" dirty="0"/>
              <a:t> 在端口中找到匹配的线程，收找发，发找收</a:t>
            </a:r>
            <a:endParaRPr lang="en-US" altLang="zh-CN" dirty="0"/>
          </a:p>
          <a:p>
            <a:r>
              <a:rPr lang="en-GB" altLang="zh-CN" dirty="0" err="1"/>
              <a:t>ipc_port_enqueue_wait</a:t>
            </a:r>
            <a:r>
              <a:rPr lang="zh-CN" altLang="en-US" dirty="0"/>
              <a:t> </a:t>
            </a:r>
            <a:r>
              <a:rPr lang="zh-CN" altLang="en-GB" dirty="0"/>
              <a:t>匹配</a:t>
            </a:r>
            <a:r>
              <a:rPr lang="zh-CN" altLang="en-US" dirty="0"/>
              <a:t>不到就在该端口阻塞住</a:t>
            </a:r>
            <a:endParaRPr lang="en-US" altLang="zh-CN" dirty="0"/>
          </a:p>
          <a:p>
            <a:r>
              <a:rPr lang="en-GB" altLang="zh-CN" dirty="0" err="1"/>
              <a:t>ipc_transfer_message</a:t>
            </a:r>
            <a:r>
              <a:rPr lang="en-GB" altLang="zh-CN" dirty="0"/>
              <a:t> </a:t>
            </a:r>
            <a:r>
              <a:rPr lang="zh-CN" altLang="en-US" dirty="0"/>
              <a:t>从发送方的发送队列，放一个消息到接收方的接收对了（支持推</a:t>
            </a:r>
            <a:r>
              <a:rPr lang="en-US" altLang="zh-CN" dirty="0"/>
              <a:t>/</a:t>
            </a:r>
            <a:r>
              <a:rPr lang="zh-CN" altLang="en-US" dirty="0"/>
              <a:t>拉）</a:t>
            </a:r>
            <a:endParaRPr lang="en-US" altLang="zh-CN" dirty="0"/>
          </a:p>
          <a:p>
            <a:r>
              <a:rPr lang="zh-CN" altLang="en-US" dirty="0"/>
              <a:t>并基于此实现了阻塞式的</a:t>
            </a:r>
            <a:r>
              <a:rPr lang="en-GB" altLang="zh-CN" dirty="0" err="1"/>
              <a:t>send_msg</a:t>
            </a:r>
            <a:r>
              <a:rPr lang="zh-CN" altLang="en-GB" dirty="0"/>
              <a:t>和</a:t>
            </a:r>
            <a:r>
              <a:rPr lang="en-US" altLang="zh-CN" dirty="0" err="1"/>
              <a:t>recv_msg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（非阻塞式的更好做，通过</a:t>
            </a:r>
            <a:r>
              <a:rPr lang="en-GB" altLang="zh-CN" dirty="0" err="1"/>
              <a:t>ipc_port_try_match</a:t>
            </a:r>
            <a:r>
              <a:rPr lang="zh-CN" altLang="en-US" dirty="0"/>
              <a:t>找到对方之后，不停调用</a:t>
            </a:r>
            <a:r>
              <a:rPr lang="en-GB" altLang="zh-CN" dirty="0" err="1"/>
              <a:t>ipc_transfer_message</a:t>
            </a:r>
            <a:r>
              <a:rPr lang="en-GB" altLang="zh-CN" dirty="0"/>
              <a:t> </a:t>
            </a:r>
            <a:r>
              <a:rPr lang="zh-CN" altLang="en-GB" dirty="0"/>
              <a:t>批量</a:t>
            </a:r>
            <a:r>
              <a:rPr lang="zh-CN" altLang="en-US" dirty="0"/>
              <a:t>发送就完事了）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8020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2FF6-FF87-A99D-6B00-D036C2ED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1A2B5C-0A2F-E9FB-A669-D6425391C45F}"/>
              </a:ext>
            </a:extLst>
          </p:cNvPr>
          <p:cNvSpPr txBox="1"/>
          <p:nvPr/>
        </p:nvSpPr>
        <p:spPr>
          <a:xfrm>
            <a:off x="1346200" y="728133"/>
            <a:ext cx="826346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一些其他碎碎念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优先级反转问题：优先级反转问题现在不再集中在锁，而是需要调度器明白发送消息的依赖关系，所以需要</a:t>
            </a:r>
            <a:r>
              <a:rPr kumimoji="1" lang="en-US" altLang="zh-CN" dirty="0"/>
              <a:t>IPC-</a:t>
            </a:r>
            <a:r>
              <a:rPr kumimoji="1" lang="en-US" altLang="zh-CN" dirty="0" err="1"/>
              <a:t>awared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scheduler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端口权限控制：没做，但是可以做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性能优化：它的性能优势可能在于几个方向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、在核心数量很多的时候体现出来，很多个核心抢锁，不如单核心轮询去做，否则上下文切换开销大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、吞吐量上去但是尾延迟估计没救了</a:t>
            </a:r>
            <a:r>
              <a:rPr kumimoji="1" lang="en-US" altLang="zh-CN" dirty="0"/>
              <a:t>3</a:t>
            </a:r>
            <a:r>
              <a:rPr kumimoji="1" lang="zh-CN" altLang="en-US" dirty="0"/>
              <a:t>、锁方案的优化一般尽量细粒度锁，但是这个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方案可能要把尽量大的临界区封装到一个线程里面，主要也是为了减少上下文切换开销。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异步：可以支持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Syscall</a:t>
            </a:r>
            <a:r>
              <a:rPr kumimoji="1" lang="zh-CN" altLang="en-US" dirty="0"/>
              <a:t>，正如开头说的，有些可以直接处理的就没必要转</a:t>
            </a:r>
            <a:r>
              <a:rPr kumimoji="1" lang="en-US" altLang="zh-CN" dirty="0"/>
              <a:t>IPC</a:t>
            </a:r>
            <a:r>
              <a:rPr kumimoji="1" lang="zh-CN" altLang="en-US" dirty="0"/>
              <a:t>了，否则发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给对应处理过程。</a:t>
            </a:r>
            <a:endParaRPr kumimoji="1" lang="en-US" altLang="zh-CN" dirty="0"/>
          </a:p>
          <a:p>
            <a:endParaRPr lang="en-US" altLang="zh-CN" dirty="0"/>
          </a:p>
          <a:p>
            <a:r>
              <a:rPr lang="zh-CN" altLang="en-US" dirty="0"/>
              <a:t>最后，现在说什么性能和安全为时过早，八字还没一撇。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083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5C07-9B5B-6DA0-209B-F70AB3B5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4061F2C-8475-9B82-F5DE-D8F87220E6C0}"/>
              </a:ext>
            </a:extLst>
          </p:cNvPr>
          <p:cNvSpPr txBox="1"/>
          <p:nvPr/>
        </p:nvSpPr>
        <p:spPr>
          <a:xfrm>
            <a:off x="1185333" y="668867"/>
            <a:ext cx="8678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</a:t>
            </a:r>
            <a:r>
              <a:rPr kumimoji="1" lang="en-US" altLang="zh-CN" dirty="0"/>
              <a:t>AI</a:t>
            </a:r>
            <a:r>
              <a:rPr kumimoji="1" lang="zh-CN" altLang="en-US" dirty="0"/>
              <a:t>的友好性：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AI</a:t>
            </a:r>
            <a:r>
              <a:rPr kumimoji="1" lang="zh-CN" altLang="en-US" dirty="0"/>
              <a:t>只需要关心自己这个内核线程的单线程功能实现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复杂竞态被封装进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协议层，由人类手写的骨架保证正确性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模块间的接口通过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消息格式明确定义，形成清晰的模块边界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2888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E5A2-D844-B2F8-D3F0-7CCA480A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2E7FDF-497E-F816-4FDD-A5B1C40B5EDF}"/>
              </a:ext>
            </a:extLst>
          </p:cNvPr>
          <p:cNvSpPr txBox="1"/>
          <p:nvPr/>
        </p:nvSpPr>
        <p:spPr>
          <a:xfrm>
            <a:off x="143933" y="304799"/>
            <a:ext cx="681566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实现进度</a:t>
            </a:r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、包含内存管理和进程管理的</a:t>
            </a:r>
            <a:r>
              <a:rPr kumimoji="1" lang="zh-CN" altLang="en-GB" dirty="0"/>
              <a:t>核心</a:t>
            </a:r>
            <a:r>
              <a:rPr kumimoji="1" lang="zh-CN" altLang="en-US" dirty="0"/>
              <a:t>部分：</a:t>
            </a:r>
            <a:endParaRPr kumimoji="1" lang="en-US" altLang="zh-CN" dirty="0"/>
          </a:p>
          <a:p>
            <a:r>
              <a:rPr kumimoji="1" lang="zh-CN" altLang="en-US" dirty="0"/>
              <a:t>约</a:t>
            </a:r>
            <a:r>
              <a:rPr kumimoji="1" lang="en-US" altLang="zh-CN" dirty="0"/>
              <a:t>2.8w</a:t>
            </a:r>
            <a:r>
              <a:rPr kumimoji="1" lang="zh-CN" altLang="en-US" dirty="0"/>
              <a:t>行</a:t>
            </a:r>
            <a:r>
              <a:rPr kumimoji="1" lang="en-US" altLang="zh-CN" dirty="0"/>
              <a:t>C</a:t>
            </a:r>
            <a:r>
              <a:rPr kumimoji="1" lang="zh-CN" altLang="en-US" dirty="0"/>
              <a:t>代码</a:t>
            </a:r>
            <a:endParaRPr kumimoji="1" lang="en-US" altLang="zh-CN" dirty="0"/>
          </a:p>
          <a:p>
            <a:r>
              <a:rPr kumimoji="1" lang="zh-CN" altLang="en-US" dirty="0"/>
              <a:t>基本完成多核</a:t>
            </a:r>
            <a:r>
              <a:rPr kumimoji="1" lang="zh-CN" altLang="en-GB" dirty="0"/>
              <a:t>内存</a:t>
            </a:r>
            <a:r>
              <a:rPr kumimoji="1" lang="zh-CN" altLang="en-US" dirty="0"/>
              <a:t>管理设计</a:t>
            </a:r>
            <a:endParaRPr kumimoji="1" lang="en-US" altLang="zh-CN" dirty="0"/>
          </a:p>
          <a:p>
            <a:r>
              <a:rPr kumimoji="1" lang="zh-CN" altLang="en-US" dirty="0"/>
              <a:t>基本完成简单的线程和进程模型</a:t>
            </a:r>
            <a:endParaRPr kumimoji="1" lang="en-US" altLang="zh-CN" dirty="0"/>
          </a:p>
          <a:p>
            <a:r>
              <a:rPr kumimoji="1" lang="zh-CN" altLang="en-US" dirty="0"/>
              <a:t>完成无锁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框架的设计和实现</a:t>
            </a:r>
          </a:p>
          <a:p>
            <a:r>
              <a:rPr kumimoji="1" lang="en-US" altLang="zh-CN" dirty="0">
                <a:hlinkClick r:id="rId3"/>
              </a:rPr>
              <a:t>https://github.com/ZhiyuanSue/RendezvOS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、基于上述核心部分，让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写一堆内核线程实现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兼容的内核</a:t>
            </a:r>
            <a:endParaRPr kumimoji="1" lang="en-US" altLang="zh-CN" dirty="0"/>
          </a:p>
          <a:p>
            <a:r>
              <a:rPr kumimoji="1" lang="zh-CN" altLang="en-US" dirty="0"/>
              <a:t>目前只支持了</a:t>
            </a:r>
            <a:r>
              <a:rPr kumimoji="1" lang="en-US" altLang="zh-CN" dirty="0"/>
              <a:t>clean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线程用于</a:t>
            </a:r>
            <a:r>
              <a:rPr kumimoji="1" lang="en-US" altLang="zh-CN" dirty="0"/>
              <a:t>sys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（显然让一个线程自己清理自己还是太难了），</a:t>
            </a:r>
            <a:r>
              <a:rPr kumimoji="1" lang="zh-CN" altLang="en-GB" dirty="0"/>
              <a:t>比如</a:t>
            </a:r>
            <a:r>
              <a:rPr kumimoji="1" lang="zh-CN" altLang="en-US" dirty="0"/>
              <a:t>下图</a:t>
            </a:r>
            <a:r>
              <a:rPr kumimoji="1" lang="en-US" altLang="zh-CN" dirty="0" err="1"/>
              <a:t>tid</a:t>
            </a:r>
            <a:r>
              <a:rPr kumimoji="1" lang="en-US" altLang="zh-CN" dirty="0"/>
              <a:t>=20</a:t>
            </a:r>
            <a:r>
              <a:rPr kumimoji="1" lang="zh-CN" altLang="en-US" dirty="0"/>
              <a:t>的线程在</a:t>
            </a:r>
            <a:r>
              <a:rPr kumimoji="1" lang="en-US" altLang="zh-CN" dirty="0"/>
              <a:t>0</a:t>
            </a:r>
            <a:r>
              <a:rPr kumimoji="1" lang="zh-CN" altLang="en-US" dirty="0"/>
              <a:t>号核心调用了一个清理，通过无锁</a:t>
            </a:r>
            <a:r>
              <a:rPr kumimoji="1" lang="en-US" altLang="zh-CN" dirty="0"/>
              <a:t> IPC</a:t>
            </a:r>
            <a:r>
              <a:rPr kumimoji="1" lang="zh-CN" altLang="en-US" dirty="0"/>
              <a:t>框架发消息给</a:t>
            </a:r>
            <a:r>
              <a:rPr kumimoji="1" lang="en-US" altLang="zh-CN" dirty="0"/>
              <a:t>2</a:t>
            </a:r>
            <a:r>
              <a:rPr kumimoji="1" lang="zh-CN" altLang="en-US" dirty="0"/>
              <a:t>号核心上的</a:t>
            </a:r>
            <a:r>
              <a:rPr kumimoji="1" lang="en-US" altLang="zh-CN" dirty="0"/>
              <a:t>clean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并清理</a:t>
            </a:r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5" name="图片 4" descr="图片包含 表格&#10;&#10;AI 生成的内容可能不正确。">
            <a:extLst>
              <a:ext uri="{FF2B5EF4-FFF2-40B4-BE49-F238E27FC236}">
                <a16:creationId xmlns:a16="http://schemas.microsoft.com/office/drawing/2014/main" id="{8B55C119-AA5D-06AA-502F-8D4B9FAEC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1" y="0"/>
            <a:ext cx="5573182" cy="2283676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31EACC97-E981-D022-9E85-DCB9AD95D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99" y="4136739"/>
            <a:ext cx="5664199" cy="2518062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35B81C92-7258-76C3-168C-7589ACF5A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400" y="2422239"/>
            <a:ext cx="3657601" cy="3429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DB2EAFE-C92B-9C4D-D0EA-23F817E00E8E}"/>
              </a:ext>
            </a:extLst>
          </p:cNvPr>
          <p:cNvSpPr txBox="1"/>
          <p:nvPr/>
        </p:nvSpPr>
        <p:spPr>
          <a:xfrm>
            <a:off x="7213600" y="5934670"/>
            <a:ext cx="497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无锁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实现测试，</a:t>
            </a:r>
            <a:r>
              <a:rPr kumimoji="1" lang="en-US" altLang="zh-CN" dirty="0"/>
              <a:t>4core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收</a:t>
            </a:r>
            <a:r>
              <a:rPr kumimoji="1" lang="en-US" altLang="zh-CN" dirty="0"/>
              <a:t>2</a:t>
            </a:r>
            <a:r>
              <a:rPr kumimoji="1" lang="zh-CN" altLang="en-US" dirty="0"/>
              <a:t>发，目前没有碰到过问题，</a:t>
            </a:r>
            <a:r>
              <a:rPr kumimoji="1" lang="en-US" altLang="zh-CN" dirty="0" err="1"/>
              <a:t>ebr</a:t>
            </a:r>
            <a:r>
              <a:rPr kumimoji="1" lang="zh-CN" altLang="en-US" dirty="0"/>
              <a:t>实测（没打印出来）最多也就个位数，远远达不到</a:t>
            </a:r>
            <a:r>
              <a:rPr kumimoji="1" lang="en-US" altLang="zh-CN" dirty="0"/>
              <a:t>512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percpu</a:t>
            </a:r>
            <a:r>
              <a:rPr kumimoji="1" lang="zh-CN" altLang="en-US" dirty="0"/>
              <a:t>槽位上限。</a:t>
            </a:r>
          </a:p>
        </p:txBody>
      </p:sp>
    </p:spTree>
    <p:extLst>
      <p:ext uri="{BB962C8B-B14F-4D97-AF65-F5344CB8AC3E}">
        <p14:creationId xmlns:p14="http://schemas.microsoft.com/office/powerpoint/2010/main" val="1696962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2AF462-53E5-DAFB-2988-79D708FEE5DA}"/>
              </a:ext>
            </a:extLst>
          </p:cNvPr>
          <p:cNvSpPr txBox="1"/>
          <p:nvPr/>
        </p:nvSpPr>
        <p:spPr>
          <a:xfrm>
            <a:off x="1346200" y="728133"/>
            <a:ext cx="826346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接下来工作的一些思考和疑问</a:t>
            </a:r>
            <a:endParaRPr kumimoji="1" lang="en-US" altLang="zh-CN" sz="2400" dirty="0"/>
          </a:p>
          <a:p>
            <a:r>
              <a:rPr kumimoji="1" lang="zh-CN" altLang="en-US" dirty="0"/>
              <a:t>首先是目标，我们到底要验证什么？要达成什么样的效果？（画靶，甚至这个靶子是否存在我也不知道，我现在还有一些人工设计的框架在，是不是让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自由发挥更好？我不清楚）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画好靶子然后我们怎么射箭？横着射箭竖着射箭？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就是为了验证实验的目标，我们需要设计怎样的实验，以及怎样的实验指标？就比如拿</a:t>
            </a:r>
            <a:r>
              <a:rPr kumimoji="1" lang="en-US" altLang="zh-CN" dirty="0"/>
              <a:t>AI</a:t>
            </a:r>
            <a:r>
              <a:rPr kumimoji="1" lang="zh-CN" altLang="en-US" dirty="0"/>
              <a:t>写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，需要什么指标？人工介入的次数？花了多少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r>
              <a:rPr kumimoji="1" lang="zh-CN" altLang="en-US" dirty="0"/>
              <a:t>功能验证？目前目标是跟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兼容，那需要跑什么测例？</a:t>
            </a:r>
            <a:endParaRPr kumimoji="1" lang="en-US" altLang="zh-CN" dirty="0"/>
          </a:p>
          <a:p>
            <a:r>
              <a:rPr kumimoji="1" lang="zh-CN" altLang="en-US" dirty="0"/>
              <a:t>如果验证目标是，这套框架本身可以有良好的扩展性让</a:t>
            </a:r>
            <a:r>
              <a:rPr kumimoji="1" lang="en-US" altLang="zh-CN" dirty="0"/>
              <a:t>AI</a:t>
            </a:r>
            <a:r>
              <a:rPr kumimoji="1" lang="zh-CN" altLang="en-US" dirty="0"/>
              <a:t>扩展，那是不是要写足够数量的代码？比如一百万行，然后还能正常跑？</a:t>
            </a:r>
            <a:endParaRPr kumimoji="1" lang="en-US" altLang="zh-CN" dirty="0"/>
          </a:p>
          <a:p>
            <a:r>
              <a:rPr kumimoji="1" lang="zh-CN" altLang="en-US" dirty="0"/>
              <a:t>那么性能如何衡量？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本身的性能嘛？多核是不是要考虑多核测例？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（总之整套实验规划我目前都没有任何想法，我真的不懂）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最后？我们用什么箭？上哪个</a:t>
            </a:r>
            <a:r>
              <a:rPr kumimoji="1" lang="en-US" altLang="zh-CN" dirty="0"/>
              <a:t>AI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r>
              <a:rPr kumimoji="1" lang="zh-CN" altLang="en-US" dirty="0"/>
              <a:t>缺钱烧</a:t>
            </a:r>
            <a:r>
              <a:rPr kumimoji="1" lang="en-US" altLang="zh-CN" dirty="0"/>
              <a:t>token</a:t>
            </a:r>
            <a:r>
              <a:rPr kumimoji="1" lang="zh-CN" altLang="en-US"/>
              <a:t>，缺</a:t>
            </a:r>
            <a:r>
              <a:rPr kumimoji="1" lang="zh-CN" altLang="en-US" dirty="0"/>
              <a:t>人写</a:t>
            </a:r>
            <a:r>
              <a:rPr kumimoji="1" lang="en-US" altLang="zh-CN" dirty="0"/>
              <a:t>prompt</a:t>
            </a:r>
            <a:r>
              <a:rPr kumimoji="1" lang="zh-CN" altLang="en-US" dirty="0"/>
              <a:t>，那就找人要人要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5225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AD98FE-5A97-D823-5ACC-6A09A36D770E}"/>
              </a:ext>
            </a:extLst>
          </p:cNvPr>
          <p:cNvSpPr/>
          <p:nvPr/>
        </p:nvSpPr>
        <p:spPr>
          <a:xfrm>
            <a:off x="4618676" y="2967335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313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2331</Words>
  <Application>Microsoft Macintosh PowerPoint</Application>
  <PresentationFormat>宽屏</PresentationFormat>
  <Paragraphs>193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161</cp:revision>
  <dcterms:created xsi:type="dcterms:W3CDTF">2026-04-13T06:28:51Z</dcterms:created>
  <dcterms:modified xsi:type="dcterms:W3CDTF">2026-04-13T10:53:39Z</dcterms:modified>
</cp:coreProperties>
</file>